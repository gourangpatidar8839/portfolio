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22860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743200" cy="5486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&amp; CAPABILITY OVERVIEW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Consarc Engineering (UK)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9CB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Vacuum &amp; Controlled-Atmosphere Melting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9CB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Heat-Treatment Systems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3474720"/>
            <a:ext cx="1371600" cy="36576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749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CB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to high-integrity castings and aerospace-grade alloys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347472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D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65760"/>
            <a:ext cx="32004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320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Portfolio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73152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B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systems for vacuum and controlled-atmosphere processing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731520" y="1417320"/>
            <a:ext cx="3657600" cy="1463040"/>
          </a:xfrm>
          <a:prstGeom prst="rect">
            <a:avLst/>
          </a:prstGeom>
          <a:solidFill>
            <a:srgbClr val="122E3A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1417320"/>
            <a:ext cx="54864" cy="1463040"/>
          </a:xfrm>
          <a:prstGeom prst="rect">
            <a:avLst/>
          </a:prstGeom>
          <a:solidFill>
            <a:srgbClr val="FF6B35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645920"/>
            <a:ext cx="411480" cy="411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51560" y="21488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VIM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1920240" y="16459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Vacuum Induction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Melting Furnaces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4754880" y="1417320"/>
            <a:ext cx="3657600" cy="1463040"/>
          </a:xfrm>
          <a:prstGeom prst="rect">
            <a:avLst/>
          </a:prstGeom>
          <a:solidFill>
            <a:srgbClr val="122E3A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754880" y="1417320"/>
            <a:ext cx="54864" cy="1463040"/>
          </a:xfrm>
          <a:prstGeom prst="rect">
            <a:avLst/>
          </a:prstGeom>
          <a:solidFill>
            <a:srgbClr val="2EC4B6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164592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074920" y="21488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5943600" y="16459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Vacuum Arc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Remelting Furnaces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731520" y="3108960"/>
            <a:ext cx="3657600" cy="1463040"/>
          </a:xfrm>
          <a:prstGeom prst="rect">
            <a:avLst/>
          </a:prstGeom>
          <a:solidFill>
            <a:srgbClr val="122E3A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731520" y="3108960"/>
            <a:ext cx="54864" cy="1463040"/>
          </a:xfrm>
          <a:prstGeom prst="rect">
            <a:avLst/>
          </a:prstGeom>
          <a:solidFill>
            <a:srgbClr val="2EC4B6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333756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51560" y="38404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HIP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1920240" y="33375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Hot Isostatic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Pressing Systems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4754880" y="3108960"/>
            <a:ext cx="3657600" cy="1463040"/>
          </a:xfrm>
          <a:prstGeom prst="rect">
            <a:avLst/>
          </a:prstGeom>
          <a:solidFill>
            <a:srgbClr val="122E3A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754880" y="3108960"/>
            <a:ext cx="54864" cy="1463040"/>
          </a:xfrm>
          <a:prstGeom prst="rect">
            <a:avLst/>
          </a:prstGeom>
          <a:solidFill>
            <a:srgbClr val="FF6B35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3337560"/>
            <a:ext cx="411480" cy="4114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074920" y="38404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5943600" y="33375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Vacuum Heat-Treatment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Reheating Furnaces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D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65760"/>
            <a:ext cx="32004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Vacuum Induction Melting (VIM) Furnaces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731520" y="1005840"/>
            <a:ext cx="7680960" cy="1188720"/>
          </a:xfrm>
          <a:prstGeom prst="rect">
            <a:avLst/>
          </a:prstGeom>
          <a:solidFill>
            <a:srgbClr val="122E3A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1005840" y="109728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Induction melting under vacuum to produce superalloys, titanium, and specialty steels with ultra-low impurity levels.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CB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VIM furnaces enable precise compositional control by removing dissolved gases and reactive elements during the melt cycle, making them essential for materials where purity directly determines mechanical performance.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31520" y="2423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 Sectors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31520" y="2880360"/>
            <a:ext cx="2423160" cy="1371600"/>
          </a:xfrm>
          <a:prstGeom prst="rect">
            <a:avLst/>
          </a:prstGeom>
          <a:solidFill>
            <a:srgbClr val="163A4A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301752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4400" y="33832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Aerospace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914400" y="37033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CB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Turbine blades, engine discs, structural alloys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429000" y="2880360"/>
            <a:ext cx="2423160" cy="1371600"/>
          </a:xfrm>
          <a:prstGeom prst="rect">
            <a:avLst/>
          </a:prstGeom>
          <a:solidFill>
            <a:srgbClr val="163A4A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301752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611880" y="33832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Defence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3611880" y="37033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CB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Armour-grade steels, missile components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126480" y="2880360"/>
            <a:ext cx="2423160" cy="1371600"/>
          </a:xfrm>
          <a:prstGeom prst="rect">
            <a:avLst/>
          </a:prstGeom>
          <a:solidFill>
            <a:srgbClr val="163A4A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301752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309360" y="33832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 Generation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6309360" y="37033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CB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turbine superalloys, nuclear-grade materials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731520" y="44805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Materials:  Superalloys  ·  Titanium  ·  Specialty Steels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D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65760"/>
            <a:ext cx="32004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Vacuum Arc Remelting (VAR) Furnaces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731520" y="1005840"/>
            <a:ext cx="7680960" cy="1371600"/>
          </a:xfrm>
          <a:prstGeom prst="rect">
            <a:avLst/>
          </a:prstGeom>
          <a:solidFill>
            <a:srgbClr val="122E3A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1005840" y="1097280"/>
            <a:ext cx="7132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High-purity remelting of superalloy and titanium electrodes under vacuum arc conditions.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CB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uses a direct current arc between a consumable electrode and a water-cooled copper crucible to remelt the material drop-by-drop under vacuum. This eliminates segregation, reduces inclusions, and produces ingots with exceptional structural homogeneity — critical for rotating aerospace components.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3152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VAR Matters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31520" y="3063240"/>
            <a:ext cx="7680960" cy="530352"/>
          </a:xfrm>
          <a:prstGeom prst="rect">
            <a:avLst/>
          </a:prstGeom>
          <a:solidFill>
            <a:srgbClr val="122E3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172968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3081528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Eliminates Segregation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3749040" y="3081528"/>
            <a:ext cx="4389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B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Drop-by-drop remelting ensures uniform composition throughout the ingot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731520" y="3703320"/>
            <a:ext cx="7680960" cy="530352"/>
          </a:xfrm>
          <a:prstGeom prst="rect">
            <a:avLst/>
          </a:prstGeom>
          <a:solidFill>
            <a:srgbClr val="163A4A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813048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63040" y="3721608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Reduces Inclusions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3749040" y="3721608"/>
            <a:ext cx="4389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B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Vacuum environment removes dissolved gases and non-metallic impurities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731520" y="4343400"/>
            <a:ext cx="7680960" cy="530352"/>
          </a:xfrm>
          <a:prstGeom prst="rect">
            <a:avLst/>
          </a:prstGeom>
          <a:solidFill>
            <a:srgbClr val="122E3A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45312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63040" y="4361688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Structural Homogeneity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3749040" y="4361688"/>
            <a:ext cx="4389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B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ingots with consistent grain structure for critical rotating parts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731520" y="45720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Materials:  Superalloy Electrodes  ·  Titanium Electrodes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D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65760"/>
            <a:ext cx="32004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Hot Isostatic Pressing (HIP) Systems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731520" y="1005840"/>
            <a:ext cx="7680960" cy="1371600"/>
          </a:xfrm>
          <a:prstGeom prst="rect">
            <a:avLst/>
          </a:prstGeom>
          <a:solidFill>
            <a:srgbClr val="122E3A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1005840" y="1097280"/>
            <a:ext cx="7132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internal porosity in critical castings and investment-cast components through simultaneous high temperature and high pressure.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CB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 subjects components to inert gas pressure (typically argon) at elevated temperatures, collapsing internal voids and micro-porosity without altering the part's external geometry. This densification process is mandatory for aerospace-grade castings where even microscopic defects are unacceptable.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3152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75488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Applications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31520" y="3017520"/>
            <a:ext cx="3657600" cy="1737360"/>
          </a:xfrm>
          <a:prstGeom prst="rect">
            <a:avLst/>
          </a:prstGeom>
          <a:solidFill>
            <a:srgbClr val="122E3A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005840" y="315468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High-pressure inert gas (argon)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temperature processing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Collapses internal voids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geometry change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densification of castings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0" y="3017520"/>
            <a:ext cx="3657600" cy="1737360"/>
          </a:xfrm>
          <a:prstGeom prst="rect">
            <a:avLst/>
          </a:prstGeom>
          <a:solidFill>
            <a:srgbClr val="122E3A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029200" y="315468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Investment-cast aerospace parts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Turbine blade densification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structural castings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Defence-spec components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Energy-sector alloy parts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D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65760"/>
            <a:ext cx="32004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2743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 Vacuum / Controlled-Atmosphere Furnaces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731520" y="1005840"/>
            <a:ext cx="7680960" cy="1188720"/>
          </a:xfrm>
          <a:prstGeom prst="rect">
            <a:avLst/>
          </a:prstGeom>
          <a:solidFill>
            <a:srgbClr val="122E3A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1005840" y="109728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Heat-treatment and reheating furnaces tuned specifically for aerospace, defence, and energy-sector alloys.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CB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custom-engineered systems designed to meet the exact thermal profiles and atmosphere requirements of specific alloy families. They operate under vacuum or controlled-atmosphere conditions to prevent oxidation, decarburization, and contamination during critical heat-treatment cycles.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31520" y="2423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Sector Focus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31520" y="2880360"/>
            <a:ext cx="2423160" cy="1828800"/>
          </a:xfrm>
          <a:prstGeom prst="rect">
            <a:avLst/>
          </a:prstGeom>
          <a:solidFill>
            <a:srgbClr val="163A4A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301752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4400" y="33832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Aerospace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914400" y="374904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CB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treating, aging, stress relief for Ni-based superalloys and Ti alloys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429000" y="2880360"/>
            <a:ext cx="2423160" cy="1828800"/>
          </a:xfrm>
          <a:prstGeom prst="rect">
            <a:avLst/>
          </a:prstGeom>
          <a:solidFill>
            <a:srgbClr val="163A4A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301752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611880" y="33832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Defence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3611880" y="374904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CB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Hardening, tempering, and stress relief for armour and ballistic steels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126480" y="2880360"/>
            <a:ext cx="2423160" cy="1828800"/>
          </a:xfrm>
          <a:prstGeom prst="rect">
            <a:avLst/>
          </a:prstGeom>
          <a:solidFill>
            <a:srgbClr val="163A4A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301752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309360" y="33832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Energy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6309360" y="374904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CB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Reheating and thermal cycling for gas turbine and nuclear-grade components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D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65760"/>
            <a:ext cx="32004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Relevance to PTC Industries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73152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B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Consarc systems matter for PTC's growth trajectory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731520" y="1325880"/>
            <a:ext cx="7680960" cy="914400"/>
          </a:xfrm>
          <a:prstGeom prst="rect">
            <a:avLst/>
          </a:prstGeom>
          <a:solidFill>
            <a:srgbClr val="122E3A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005840" y="1463040"/>
            <a:ext cx="640080" cy="25603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14630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VIM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828800" y="1399032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In-House Master-Alloy / Superalloy Melting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828800" y="173736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CB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dependency on external suppliers by bringing VIM capability in-house for superalloy and specialty steel production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31520" y="2423160"/>
            <a:ext cx="7680960" cy="914400"/>
          </a:xfrm>
          <a:prstGeom prst="rect">
            <a:avLst/>
          </a:prstGeom>
          <a:solidFill>
            <a:srgbClr val="122E3A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005840" y="2560320"/>
            <a:ext cx="640080" cy="256032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2" name="Text 9"/>
          <p:cNvSpPr/>
          <p:nvPr/>
        </p:nvSpPr>
        <p:spPr>
          <a:xfrm>
            <a:off x="1005840" y="25603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HIP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828800" y="2496312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HIP-Treated Castings for Aerospace-Grade Quality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828800" y="283464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CB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 full densification of investment-cast components to meet aerospace certification requirements and eliminate internal porosity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31520" y="3520440"/>
            <a:ext cx="7680960" cy="914400"/>
          </a:xfrm>
          <a:prstGeom prst="rect">
            <a:avLst/>
          </a:prstGeom>
          <a:solidFill>
            <a:srgbClr val="122E3A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005840" y="3657600"/>
            <a:ext cx="640080" cy="256032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7" name="Text 14"/>
          <p:cNvSpPr/>
          <p:nvPr/>
        </p:nvSpPr>
        <p:spPr>
          <a:xfrm>
            <a:off x="1005840" y="36576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828800" y="3593592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Vacuum-Refined Melts for High-Integrity Castings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828800" y="393192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CB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high-purity titanium and superalloy castings through VAR remelting with exceptional structural homogeneity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31520" y="4526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capabilities directly align with PTC's ambitions in aerospace-grade alloy casting and high-integrity titanium/superalloy production.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D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65760"/>
            <a:ext cx="32004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India Procurement Channel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31520" y="1051560"/>
            <a:ext cx="7680960" cy="1325880"/>
          </a:xfrm>
          <a:prstGeom prst="rect">
            <a:avLst/>
          </a:prstGeom>
          <a:solidFill>
            <a:srgbClr val="122E3A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1005840" y="1143000"/>
            <a:ext cx="7132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Indian buyers interface with Inductotherm India (Gujarat), which acts as the local agent for both Consarc UK and Consarc USA technologies.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CB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PTC would typically procure Consarc-brand plants through Inductotherm India, even if the core design originates from the UK entity.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731520" y="2743200"/>
            <a:ext cx="2468880" cy="1691640"/>
          </a:xfrm>
          <a:prstGeom prst="rect">
            <a:avLst/>
          </a:prstGeom>
          <a:solidFill>
            <a:srgbClr val="163A4A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31520" y="2743200"/>
            <a:ext cx="2468880" cy="5486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285292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14400" y="32004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Consarc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Engineering (UK)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14400" y="37947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CB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design &amp;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CB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origin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3383280"/>
            <a:ext cx="274320" cy="2743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749040" y="2743200"/>
            <a:ext cx="2468880" cy="1691640"/>
          </a:xfrm>
          <a:prstGeom prst="rect">
            <a:avLst/>
          </a:prstGeom>
          <a:solidFill>
            <a:srgbClr val="163A4A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749040" y="2743200"/>
            <a:ext cx="246888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4" name="Text 10"/>
          <p:cNvSpPr/>
          <p:nvPr/>
        </p:nvSpPr>
        <p:spPr>
          <a:xfrm>
            <a:off x="3931920" y="285292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3931920" y="32004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Inductotherm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India (Gujarat)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931920" y="37947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CB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agent for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CB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Consarc UK &amp; USA</a:t>
            </a:r>
            <a:endParaRPr lang="en-US" sz="11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3383280"/>
            <a:ext cx="274320" cy="27432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6766560" y="2743200"/>
            <a:ext cx="2468880" cy="1691640"/>
          </a:xfrm>
          <a:prstGeom prst="rect">
            <a:avLst/>
          </a:prstGeom>
          <a:solidFill>
            <a:srgbClr val="163A4A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766560" y="2743200"/>
            <a:ext cx="2468880" cy="5486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20" name="Text 15"/>
          <p:cNvSpPr/>
          <p:nvPr/>
        </p:nvSpPr>
        <p:spPr>
          <a:xfrm>
            <a:off x="6949440" y="285292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6949440" y="32004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PTC Industries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(End Buyer)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949440" y="37947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CB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Procures Consarc-brand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CB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plants locally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731520" y="46177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routing ensures local support, spares, installation assistance, and compliance with Indian procurement norms.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D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65760"/>
            <a:ext cx="32004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320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 a Glance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31520" y="1005840"/>
            <a:ext cx="7680960" cy="457200"/>
          </a:xfrm>
          <a:prstGeom prst="rect">
            <a:avLst/>
          </a:prstGeom>
          <a:solidFill>
            <a:srgbClr val="122E3A"/>
          </a:solidFill>
          <a:ln/>
        </p:spPr>
      </p:sp>
      <p:sp>
        <p:nvSpPr>
          <p:cNvPr id="5" name="Text 2"/>
          <p:cNvSpPr/>
          <p:nvPr/>
        </p:nvSpPr>
        <p:spPr>
          <a:xfrm>
            <a:off x="914400" y="1024128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Company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017520" y="1024128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Consarc Engineering, United Kingdom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31520" y="1554480"/>
            <a:ext cx="7680960" cy="457200"/>
          </a:xfrm>
          <a:prstGeom prst="rect">
            <a:avLst/>
          </a:prstGeom>
          <a:solidFill>
            <a:srgbClr val="163A4A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1572768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Capability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017520" y="1572768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Vacuum &amp; controlled-atmosphere melting and heat-treatment systems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31520" y="2103120"/>
            <a:ext cx="7680960" cy="457200"/>
          </a:xfrm>
          <a:prstGeom prst="rect">
            <a:avLst/>
          </a:prstGeom>
          <a:solidFill>
            <a:srgbClr val="122E3A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2121408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Lines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017520" y="2121408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VIM Furnaces  ·  VAR Furnaces  ·  HIP Systems  ·  Custom Heat-Treatment Furnaces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31520" y="2651760"/>
            <a:ext cx="7680960" cy="457200"/>
          </a:xfrm>
          <a:prstGeom prst="rect">
            <a:avLst/>
          </a:prstGeom>
          <a:solidFill>
            <a:srgbClr val="163A4A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" y="2670048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 Sectors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017520" y="2670048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Aerospace  ·  Defence  ·  Power Generation  ·  Energy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solidFill>
            <a:srgbClr val="122E3A"/>
          </a:solidFill>
          <a:ln/>
        </p:spPr>
      </p:sp>
      <p:sp>
        <p:nvSpPr>
          <p:cNvPr id="17" name="Text 14"/>
          <p:cNvSpPr/>
          <p:nvPr/>
        </p:nvSpPr>
        <p:spPr>
          <a:xfrm>
            <a:off x="914400" y="3218688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Materials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017520" y="3218688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Superalloys  ·  Titanium  ·  Specialty Steels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31520" y="3749040"/>
            <a:ext cx="7680960" cy="457200"/>
          </a:xfrm>
          <a:prstGeom prst="rect">
            <a:avLst/>
          </a:prstGeom>
          <a:solidFill>
            <a:srgbClr val="163A4A"/>
          </a:solidFill>
          <a:ln/>
        </p:spPr>
      </p:sp>
      <p:sp>
        <p:nvSpPr>
          <p:cNvPr id="20" name="Text 17"/>
          <p:cNvSpPr/>
          <p:nvPr/>
        </p:nvSpPr>
        <p:spPr>
          <a:xfrm>
            <a:off x="914400" y="3767328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India Channel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017520" y="3767328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Inductotherm India (Gujarat) — local agent for Consarc UK &amp; USA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31520" y="4297680"/>
            <a:ext cx="7680960" cy="457200"/>
          </a:xfrm>
          <a:prstGeom prst="rect">
            <a:avLst/>
          </a:prstGeom>
          <a:solidFill>
            <a:srgbClr val="122E3A"/>
          </a:solidFill>
          <a:ln/>
        </p:spPr>
      </p:sp>
      <p:sp>
        <p:nvSpPr>
          <p:cNvPr id="23" name="Text 20"/>
          <p:cNvSpPr/>
          <p:nvPr/>
        </p:nvSpPr>
        <p:spPr>
          <a:xfrm>
            <a:off x="914400" y="4315968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PTC Relevance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3017520" y="4315968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In-house superalloy melting, HIP-treated castings, vacuum-refined titanium melts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Consarc Engineering – Product &amp; Capability Overview</dc:title>
  <dc:subject>PptxGenJS Presentation</dc:subject>
  <dc:creator>Ianman</dc:creator>
  <cp:lastModifiedBy>Ianman</cp:lastModifiedBy>
  <cp:revision>1</cp:revision>
  <dcterms:created xsi:type="dcterms:W3CDTF">2026-04-23T08:47:30Z</dcterms:created>
  <dcterms:modified xsi:type="dcterms:W3CDTF">2026-04-23T08:47:30Z</dcterms:modified>
</cp:coreProperties>
</file>